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96596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Segoe UI"/>
              </a:defRPr>
            </a:pPr>
            <a:r>
              <a:t>SIGNOVA AI</a:t>
            </a:r>
          </a:p>
          <a:p>
            <a:pPr>
              <a:spcBef>
                <a:spcPts val="300"/>
              </a:spcBef>
              <a:defRPr sz="1350" b="1">
                <a:solidFill>
                  <a:srgbClr val="D97706"/>
                </a:solidFill>
                <a:latin typeface="Segoe UI"/>
              </a:defRPr>
            </a:pPr>
            <a:r>
              <a:t>Real-Time Indian Sign Language to Text &amp; Speech</a:t>
            </a:r>
          </a:p>
          <a:p>
            <a:pPr>
              <a:spcBef>
                <a:spcPts val="100"/>
              </a:spcBef>
              <a:defRPr sz="1350" b="1">
                <a:solidFill>
                  <a:srgbClr val="D97706"/>
                </a:solidFill>
                <a:latin typeface="Segoe UI"/>
              </a:defRPr>
            </a:pPr>
            <a:r>
              <a:t>for the Hearing &amp; Speech Impaired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37560"/>
            <a:ext cx="45720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490"/>
                </a:solidFill>
                <a:latin typeface="Segoe UI"/>
              </a:defRPr>
            </a:pPr>
            <a:r>
              <a:t>Team Lead Name</a:t>
            </a:r>
          </a:p>
          <a:p>
            <a:pPr>
              <a:spcBef>
                <a:spcPts val="2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RAVIPRASATH R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Team Members</a:t>
            </a:r>
          </a:p>
          <a:p>
            <a:pPr>
              <a:spcBef>
                <a:spcPts val="200"/>
              </a:spcBef>
              <a:defRPr sz="1250" b="1">
                <a:solidFill>
                  <a:srgbClr val="334155"/>
                </a:solidFill>
                <a:latin typeface="Segoe UI"/>
              </a:defRPr>
            </a:pPr>
            <a:r>
              <a:t>1.  DHINESH KUMAR G</a:t>
            </a:r>
          </a:p>
          <a:p>
            <a:pPr>
              <a:spcBef>
                <a:spcPts val="200"/>
              </a:spcBef>
              <a:defRPr sz="1250" b="1">
                <a:solidFill>
                  <a:srgbClr val="334155"/>
                </a:solidFill>
                <a:latin typeface="Segoe UI"/>
              </a:defRPr>
            </a:pPr>
            <a:r>
              <a:t>2.  KEERTHANA S</a:t>
            </a:r>
          </a:p>
          <a:p>
            <a:pPr>
              <a:spcBef>
                <a:spcPts val="200"/>
              </a:spcBef>
              <a:defRPr sz="1250" b="1">
                <a:solidFill>
                  <a:srgbClr val="334155"/>
                </a:solidFill>
                <a:latin typeface="Segoe UI"/>
              </a:defRPr>
            </a:pPr>
            <a:r>
              <a:t>3.  ISWARYA S</a:t>
            </a:r>
          </a:p>
          <a:p>
            <a:pPr>
              <a:spcBef>
                <a:spcPts val="800"/>
              </a:spcBef>
              <a:defRPr sz="1250" b="1">
                <a:solidFill>
                  <a:srgbClr val="D97706"/>
                </a:solidFill>
                <a:latin typeface="Segoe UI"/>
              </a:defRPr>
            </a:pPr>
            <a:r>
              <a:t>Mentor: SANTHOSH P</a:t>
            </a:r>
          </a:p>
          <a:p>
            <a:pPr>
              <a:spcBef>
                <a:spcPts val="800"/>
              </a:spcBef>
              <a:defRPr sz="1250" b="1">
                <a:solidFill>
                  <a:srgbClr val="0A2540"/>
                </a:solidFill>
                <a:latin typeface="Segoe UI"/>
              </a:defRPr>
            </a:pPr>
            <a:r>
              <a:t>College Name - University College of Engineering Villupuram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92608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01  •  SOCIETAL CHALLENGE</a:t>
            </a:r>
          </a:p>
          <a:p>
            <a:pPr>
              <a:spcBef>
                <a:spcPts val="800"/>
              </a:spcBef>
              <a:defRPr sz="1950" b="1">
                <a:solidFill>
                  <a:srgbClr val="0A2540"/>
                </a:solidFill>
                <a:latin typeface="Segoe UI"/>
              </a:defRPr>
            </a:pPr>
            <a:r>
              <a:t>Severe Communication Divide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63M+ Deaf Citizens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Face daily isolation in spoken environments.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Severe Interpreter Shortage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Only 1 trained interpreter per 10,000+ people.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Public Domain Barriers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Critical hurdles in hospitals, banks &amp; transit.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344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92608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02  •  TECHNICAL GAP</a:t>
            </a:r>
          </a:p>
          <a:p>
            <a:pPr>
              <a:spcBef>
                <a:spcPts val="800"/>
              </a:spcBef>
              <a:defRPr sz="1950" b="1">
                <a:solidFill>
                  <a:srgbClr val="0A2540"/>
                </a:solidFill>
                <a:latin typeface="Segoe UI"/>
              </a:defRPr>
            </a:pPr>
            <a:r>
              <a:t>Existing Software Gaps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Bulky Sensory Gloves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Require $500+ fragile hardware with stiff wiring.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High Cloud Latency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Cloud-reliant models suffer lag and need internet.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Text-Only Outputs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Lacks instant, natural real-time voice speech.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2344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92608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03  •  OUR INNOVATION</a:t>
            </a:r>
          </a:p>
          <a:p>
            <a:pPr>
              <a:spcBef>
                <a:spcPts val="800"/>
              </a:spcBef>
              <a:defRPr sz="1950" b="1">
                <a:solidFill>
                  <a:srgbClr val="0A2540"/>
                </a:solidFill>
                <a:latin typeface="Segoe UI"/>
              </a:defRPr>
            </a:pPr>
            <a:r>
              <a:t>The Signova AI Solution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Zero Extra Hardware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Runs directly on any standard laptop/mobile webcam.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Instant Spoken Voice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Translates gestures into audible speech in real time.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100% Private &amp; Fast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Local 21-joint keypoints with ultra-low 4.2ms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521208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CORE SYSTEM HIGHLIGHTS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AI-Powered Assistive Platform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Translates Indian Sign Language into instant text &amp; natural speech.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Ubiquitous Camera Access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Operates on standard webcams without expensive sensory gloves.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Instant Real-Time Voice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Integrated speech engine verbalizes signs with immediate playback.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Private On-Device Inference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Processes 21 3D hand keypoints locally ensuring complete data privacy.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59" y="13716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50" b="1">
                <a:solidFill>
                  <a:srgbClr val="0E7490"/>
                </a:solidFill>
                <a:latin typeface="Segoe UI"/>
              </a:defRPr>
            </a:pPr>
            <a:r>
              <a:t>END-TO-END PIPELINE ARCHITECTURE</a:t>
            </a:r>
          </a:p>
        </p:txBody>
      </p:sp>
      <p:pic>
        <p:nvPicPr>
          <p:cNvPr id="6" name="Picture 5" descr="isl_solution_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828800"/>
            <a:ext cx="4937760" cy="3686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37843" y="1113647"/>
            <a:ext cx="10113264" cy="5042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nd_users_clea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5" y="1186799"/>
            <a:ext cx="9966960" cy="489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0684" y="1344443"/>
            <a:ext cx="10387584" cy="458059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w_factors_clea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417595"/>
            <a:ext cx="10241280" cy="44342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92327" y="1691639"/>
            <a:ext cx="10607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gnova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2216701"/>
            <a:ext cx="10058400" cy="2973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801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1467612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334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React 18 &amp; Vite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Frontend User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2801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p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1467612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62856" y="26334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Google MediaPipe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Hand Landmark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2801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292" y="1467612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11312" y="26334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FastAPI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Async REST Microservice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947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7380" y="3982212"/>
            <a:ext cx="1097280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5148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Python 3.10+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Core ML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ikitle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820" y="4165091"/>
            <a:ext cx="1353312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2856" y="5148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Scikit-Learn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Gesture Classifier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37947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ebspee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4292" y="3982212"/>
            <a:ext cx="1097280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1312" y="5148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Web Speech API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Real-Time Voice Audio TTS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8116" y="1133713"/>
            <a:ext cx="10332719" cy="5002053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ve_recognition_h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179433"/>
            <a:ext cx="10241280" cy="4910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8116" y="1118711"/>
            <a:ext cx="10332719" cy="5032057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ve_user_test_h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164431"/>
            <a:ext cx="10241280" cy="49406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Bridges Critical Communication Divide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Empowers India's 63M+ deaf individuals with an accessible, barrier-free tool for daily conversations.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6888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Zero Additional Hardware Cost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Replaces $500+ expensive sensor gloves with ubiquitous standard webcams, democratizing assistive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0332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Exceptional Speed &amp; Accuracy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Achieves 95.07% recognition accuracy with an ultra-responsive 4.2ms latency and immediate voice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93776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Modular &amp; Production Ready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Engineered with modern React and FastAPI microservices, prepared for immediate deployment in schools, hospitals, and civic centers.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POCKET ACCESSIBILITY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Mobile &amp; Edge AI Apps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Native Android &amp; iOS Apps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Lightweight on-device smartphone camera translation.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100% Offline AI Engine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Smooth 60 FPS live video tracking without internet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344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EXPANDED VOCABULARY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Regional Indian Dialects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500+ Extended Word Signs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Covers multi-state Northern &amp; Southern ISL dialect variations.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Community Studio Portal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Crowdsourced open platform for nationwide gesture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NEXT-GEN WEARABLES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AR Smart Glasses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Heads-Up Live Subtitles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Displays speech subtitles directly in wearer's field of vision.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Hands-Free Natural Chat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Enables natural, continuous eye contact during conversation.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490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CIVIC INCLUSIVITY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Public Service Kiosks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Transit &amp; Railway Desks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Instant automated barrier-free ticket and counter support.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Hospital ER Triage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Rapid doctor-to-patient emergency talk without interpreter delays.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14800"/>
            <a:ext cx="8531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 i="1">
                <a:solidFill>
                  <a:srgbClr val="0A2540"/>
                </a:solidFill>
                <a:latin typeface="Segoe UI"/>
              </a:defRPr>
            </a:pPr>
            <a:r>
              <a:t>“Empowering Every Voice, Translating Every Sign.”</a:t>
            </a:r>
          </a:p>
          <a:p>
            <a:pPr algn="ctr">
              <a:spcBef>
                <a:spcPts val="800"/>
              </a:spcBef>
              <a:defRPr sz="1550" b="1">
                <a:solidFill>
                  <a:srgbClr val="D97706"/>
                </a:solidFill>
                <a:latin typeface="Segoe UI"/>
              </a:defRPr>
            </a:pPr>
            <a:r>
              <a:t>Questions &amp; Interactive Demonstration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