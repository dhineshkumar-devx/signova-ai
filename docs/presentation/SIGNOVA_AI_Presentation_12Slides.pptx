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hyperlink" Target="https://signova-ai-ashy.vercel.app" TargetMode="External"/><Relationship Id="rId5" Type="http://schemas.openxmlformats.org/officeDocument/2006/relationships/hyperlink" Target="https://github.com/dhineshkumar-devx/signova-ai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_clea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71600" y="1965960"/>
            <a:ext cx="466344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A2540"/>
                </a:solidFill>
                <a:latin typeface="Segoe UI"/>
              </a:defRPr>
            </a:pPr>
            <a:r>
              <a:t>SIGNOVA AI</a:t>
            </a:r>
          </a:p>
          <a:p>
            <a:pPr>
              <a:spcBef>
                <a:spcPts val="300"/>
              </a:spcBef>
              <a:defRPr sz="1350" b="1">
                <a:solidFill>
                  <a:srgbClr val="D97706"/>
                </a:solidFill>
                <a:latin typeface="Segoe UI"/>
              </a:defRPr>
            </a:pPr>
            <a:r>
              <a:t>Real-Time Indian Sign Language to Text &amp; Speech</a:t>
            </a:r>
          </a:p>
          <a:p>
            <a:pPr>
              <a:spcBef>
                <a:spcPts val="100"/>
              </a:spcBef>
              <a:defRPr sz="1350" b="1">
                <a:solidFill>
                  <a:srgbClr val="D97706"/>
                </a:solidFill>
                <a:latin typeface="Segoe UI"/>
              </a:defRPr>
            </a:pPr>
            <a:r>
              <a:t>for the Hearing &amp; Speech Impaired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337560"/>
            <a:ext cx="457200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E7490"/>
                </a:solidFill>
                <a:latin typeface="Segoe UI"/>
              </a:defRPr>
            </a:pPr>
            <a:r>
              <a:t>Team Lead Name</a:t>
            </a:r>
          </a:p>
          <a:p>
            <a:pPr>
              <a:spcBef>
                <a:spcPts val="200"/>
              </a:spcBef>
              <a:defRPr sz="1400" b="1">
                <a:solidFill>
                  <a:srgbClr val="0A2540"/>
                </a:solidFill>
                <a:latin typeface="Segoe UI"/>
              </a:defRPr>
            </a:pPr>
            <a:r>
              <a:t>RAVIPRASATH R</a:t>
            </a:r>
          </a:p>
          <a:p>
            <a:pPr>
              <a:spcBef>
                <a:spcPts val="800"/>
              </a:spcBef>
              <a:defRPr sz="1200" b="1">
                <a:solidFill>
                  <a:srgbClr val="0E7490"/>
                </a:solidFill>
                <a:latin typeface="Segoe UI"/>
              </a:defRPr>
            </a:pPr>
            <a:r>
              <a:t>Team Members</a:t>
            </a:r>
          </a:p>
          <a:p>
            <a:pPr>
              <a:spcBef>
                <a:spcPts val="200"/>
              </a:spcBef>
              <a:defRPr sz="1250" b="1">
                <a:solidFill>
                  <a:srgbClr val="334155"/>
                </a:solidFill>
                <a:latin typeface="Segoe UI"/>
              </a:defRPr>
            </a:pPr>
            <a:r>
              <a:t>1.  DHINESH KUMAR G</a:t>
            </a:r>
          </a:p>
          <a:p>
            <a:pPr>
              <a:spcBef>
                <a:spcPts val="200"/>
              </a:spcBef>
              <a:defRPr sz="1250" b="1">
                <a:solidFill>
                  <a:srgbClr val="334155"/>
                </a:solidFill>
                <a:latin typeface="Segoe UI"/>
              </a:defRPr>
            </a:pPr>
            <a:r>
              <a:t>2.  KEERTHANA S</a:t>
            </a:r>
          </a:p>
          <a:p>
            <a:pPr>
              <a:spcBef>
                <a:spcPts val="200"/>
              </a:spcBef>
              <a:defRPr sz="1250" b="1">
                <a:solidFill>
                  <a:srgbClr val="334155"/>
                </a:solidFill>
                <a:latin typeface="Segoe UI"/>
              </a:defRPr>
            </a:pPr>
            <a:r>
              <a:t>3.  ISWARYA S</a:t>
            </a:r>
          </a:p>
          <a:p>
            <a:pPr>
              <a:spcBef>
                <a:spcPts val="800"/>
              </a:spcBef>
              <a:defRPr sz="1250" b="1">
                <a:solidFill>
                  <a:srgbClr val="D97706"/>
                </a:solidFill>
                <a:latin typeface="Segoe UI"/>
              </a:defRPr>
            </a:pPr>
            <a:r>
              <a:t>Mentor: SANTHOSH P</a:t>
            </a:r>
          </a:p>
          <a:p>
            <a:pPr>
              <a:spcBef>
                <a:spcPts val="800"/>
              </a:spcBef>
              <a:defRPr sz="1250" b="1">
                <a:solidFill>
                  <a:srgbClr val="0A2540"/>
                </a:solidFill>
                <a:latin typeface="Segoe UI"/>
              </a:defRPr>
            </a:pPr>
            <a:r>
              <a:t>College Name - University College of Engineering Villupuram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1234440"/>
            <a:ext cx="33375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92608" bIns="182880"/>
          <a:lstStyle/>
          <a:p>
            <a:pPr algn="ctr">
              <a:defRPr sz="1150" b="1">
                <a:solidFill>
                  <a:srgbClr val="D97706"/>
                </a:solidFill>
                <a:latin typeface="Segoe UI"/>
              </a:defRPr>
            </a:pPr>
            <a:r>
              <a:t>01  •  SOCIETAL CHALLENGE</a:t>
            </a:r>
          </a:p>
          <a:p>
            <a:pPr>
              <a:spcBef>
                <a:spcPts val="800"/>
              </a:spcBef>
              <a:defRPr sz="1950" b="1">
                <a:solidFill>
                  <a:srgbClr val="0A2540"/>
                </a:solidFill>
                <a:latin typeface="Segoe UI"/>
              </a:defRPr>
            </a:pPr>
            <a:r>
              <a:t>Severe Communication Divide</a:t>
            </a:r>
          </a:p>
          <a:p>
            <a:pPr>
              <a:spcBef>
                <a:spcPts val="1400"/>
              </a:spcBef>
              <a:defRPr sz="1400" b="1">
                <a:solidFill>
                  <a:srgbClr val="0A2540"/>
                </a:solidFill>
                <a:latin typeface="Segoe UI"/>
              </a:defRPr>
            </a:pPr>
            <a:r>
              <a:t>•  63M+ Deaf Citizens</a:t>
            </a:r>
          </a:p>
          <a:p>
            <a:pPr>
              <a:spcBef>
                <a:spcPts val="200"/>
              </a:spcBef>
              <a:defRPr sz="1250">
                <a:solidFill>
                  <a:srgbClr val="334155"/>
                </a:solidFill>
                <a:latin typeface="Segoe UI"/>
              </a:defRPr>
            </a:pPr>
            <a:r>
              <a:t>    Face daily isolation in spoken environments.</a:t>
            </a:r>
          </a:p>
          <a:p>
            <a:pPr>
              <a:spcBef>
                <a:spcPts val="1400"/>
              </a:spcBef>
              <a:defRPr sz="1400" b="1">
                <a:solidFill>
                  <a:srgbClr val="0A2540"/>
                </a:solidFill>
                <a:latin typeface="Segoe UI"/>
              </a:defRPr>
            </a:pPr>
            <a:r>
              <a:t>•  Severe Interpreter Shortage</a:t>
            </a:r>
          </a:p>
          <a:p>
            <a:pPr>
              <a:spcBef>
                <a:spcPts val="200"/>
              </a:spcBef>
              <a:defRPr sz="1250">
                <a:solidFill>
                  <a:srgbClr val="334155"/>
                </a:solidFill>
                <a:latin typeface="Segoe UI"/>
              </a:defRPr>
            </a:pPr>
            <a:r>
              <a:t>    Only 1 trained interpreter per 10,000+ people.</a:t>
            </a:r>
          </a:p>
          <a:p>
            <a:pPr>
              <a:spcBef>
                <a:spcPts val="1400"/>
              </a:spcBef>
              <a:defRPr sz="1400" b="1">
                <a:solidFill>
                  <a:srgbClr val="0A2540"/>
                </a:solidFill>
                <a:latin typeface="Segoe UI"/>
              </a:defRPr>
            </a:pPr>
            <a:r>
              <a:t>•  Public Domain Barriers</a:t>
            </a:r>
          </a:p>
          <a:p>
            <a:pPr>
              <a:spcBef>
                <a:spcPts val="200"/>
              </a:spcBef>
              <a:defRPr sz="1250">
                <a:solidFill>
                  <a:srgbClr val="334155"/>
                </a:solidFill>
                <a:latin typeface="Segoe UI"/>
              </a:defRPr>
            </a:pPr>
            <a:r>
              <a:t>    Critical hurdles in hospitals, banks &amp; transit.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234440"/>
            <a:ext cx="33375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92608" bIns="182880"/>
          <a:lstStyle/>
          <a:p>
            <a:pPr algn="ctr">
              <a:defRPr sz="1150" b="1">
                <a:solidFill>
                  <a:srgbClr val="D97706"/>
                </a:solidFill>
                <a:latin typeface="Segoe UI"/>
              </a:defRPr>
            </a:pPr>
            <a:r>
              <a:t>02  •  TECHNICAL GAP</a:t>
            </a:r>
          </a:p>
          <a:p>
            <a:pPr>
              <a:spcBef>
                <a:spcPts val="800"/>
              </a:spcBef>
              <a:defRPr sz="1950" b="1">
                <a:solidFill>
                  <a:srgbClr val="0A2540"/>
                </a:solidFill>
                <a:latin typeface="Segoe UI"/>
              </a:defRPr>
            </a:pPr>
            <a:r>
              <a:t>Existing Software Gaps</a:t>
            </a:r>
          </a:p>
          <a:p>
            <a:pPr>
              <a:spcBef>
                <a:spcPts val="1400"/>
              </a:spcBef>
              <a:defRPr sz="1400" b="1">
                <a:solidFill>
                  <a:srgbClr val="0A2540"/>
                </a:solidFill>
                <a:latin typeface="Segoe UI"/>
              </a:defRPr>
            </a:pPr>
            <a:r>
              <a:t>•  Bulky Sensory Gloves</a:t>
            </a:r>
          </a:p>
          <a:p>
            <a:pPr>
              <a:spcBef>
                <a:spcPts val="200"/>
              </a:spcBef>
              <a:defRPr sz="1250">
                <a:solidFill>
                  <a:srgbClr val="334155"/>
                </a:solidFill>
                <a:latin typeface="Segoe UI"/>
              </a:defRPr>
            </a:pPr>
            <a:r>
              <a:t>    Require $500+ fragile hardware with stiff wiring.</a:t>
            </a:r>
          </a:p>
          <a:p>
            <a:pPr>
              <a:spcBef>
                <a:spcPts val="1400"/>
              </a:spcBef>
              <a:defRPr sz="1400" b="1">
                <a:solidFill>
                  <a:srgbClr val="0A2540"/>
                </a:solidFill>
                <a:latin typeface="Segoe UI"/>
              </a:defRPr>
            </a:pPr>
            <a:r>
              <a:t>•  High Cloud Latency</a:t>
            </a:r>
          </a:p>
          <a:p>
            <a:pPr>
              <a:spcBef>
                <a:spcPts val="200"/>
              </a:spcBef>
              <a:defRPr sz="1250">
                <a:solidFill>
                  <a:srgbClr val="334155"/>
                </a:solidFill>
                <a:latin typeface="Segoe UI"/>
              </a:defRPr>
            </a:pPr>
            <a:r>
              <a:t>    Cloud-reliant models suffer lag and need internet.</a:t>
            </a:r>
          </a:p>
          <a:p>
            <a:pPr>
              <a:spcBef>
                <a:spcPts val="1400"/>
              </a:spcBef>
              <a:defRPr sz="1400" b="1">
                <a:solidFill>
                  <a:srgbClr val="0A2540"/>
                </a:solidFill>
                <a:latin typeface="Segoe UI"/>
              </a:defRPr>
            </a:pPr>
            <a:r>
              <a:t>•  Text-Only Outputs</a:t>
            </a:r>
          </a:p>
          <a:p>
            <a:pPr>
              <a:spcBef>
                <a:spcPts val="200"/>
              </a:spcBef>
              <a:defRPr sz="1250">
                <a:solidFill>
                  <a:srgbClr val="334155"/>
                </a:solidFill>
                <a:latin typeface="Segoe UI"/>
              </a:defRPr>
            </a:pPr>
            <a:r>
              <a:t>    Lacks instant, natural real-time voice speech.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1234440"/>
            <a:ext cx="33375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292608" bIns="182880"/>
          <a:lstStyle/>
          <a:p>
            <a:pPr algn="ctr">
              <a:defRPr sz="1150" b="1">
                <a:solidFill>
                  <a:srgbClr val="D97706"/>
                </a:solidFill>
                <a:latin typeface="Segoe UI"/>
              </a:defRPr>
            </a:pPr>
            <a:r>
              <a:t>03  •  OUR INNOVATION</a:t>
            </a:r>
          </a:p>
          <a:p>
            <a:pPr>
              <a:spcBef>
                <a:spcPts val="800"/>
              </a:spcBef>
              <a:defRPr sz="1950" b="1">
                <a:solidFill>
                  <a:srgbClr val="0A2540"/>
                </a:solidFill>
                <a:latin typeface="Segoe UI"/>
              </a:defRPr>
            </a:pPr>
            <a:r>
              <a:t>The Signova AI Solution</a:t>
            </a:r>
          </a:p>
          <a:p>
            <a:pPr>
              <a:spcBef>
                <a:spcPts val="1400"/>
              </a:spcBef>
              <a:defRPr sz="1400" b="1">
                <a:solidFill>
                  <a:srgbClr val="0A2540"/>
                </a:solidFill>
                <a:latin typeface="Segoe UI"/>
              </a:defRPr>
            </a:pPr>
            <a:r>
              <a:t>•  Zero Extra Hardware</a:t>
            </a:r>
          </a:p>
          <a:p>
            <a:pPr>
              <a:spcBef>
                <a:spcPts val="200"/>
              </a:spcBef>
              <a:defRPr sz="1250">
                <a:solidFill>
                  <a:srgbClr val="334155"/>
                </a:solidFill>
                <a:latin typeface="Segoe UI"/>
              </a:defRPr>
            </a:pPr>
            <a:r>
              <a:t>    Runs directly on any standard laptop/mobile webcam.</a:t>
            </a:r>
          </a:p>
          <a:p>
            <a:pPr>
              <a:spcBef>
                <a:spcPts val="1400"/>
              </a:spcBef>
              <a:defRPr sz="1400" b="1">
                <a:solidFill>
                  <a:srgbClr val="0A2540"/>
                </a:solidFill>
                <a:latin typeface="Segoe UI"/>
              </a:defRPr>
            </a:pPr>
            <a:r>
              <a:t>•  Instant Spoken Voice</a:t>
            </a:r>
          </a:p>
          <a:p>
            <a:pPr>
              <a:spcBef>
                <a:spcPts val="200"/>
              </a:spcBef>
              <a:defRPr sz="1250">
                <a:solidFill>
                  <a:srgbClr val="334155"/>
                </a:solidFill>
                <a:latin typeface="Segoe UI"/>
              </a:defRPr>
            </a:pPr>
            <a:r>
              <a:t>    Translates gestures into audible speech in real time.</a:t>
            </a:r>
          </a:p>
          <a:p>
            <a:pPr>
              <a:spcBef>
                <a:spcPts val="1400"/>
              </a:spcBef>
              <a:defRPr sz="1400" b="1">
                <a:solidFill>
                  <a:srgbClr val="0A2540"/>
                </a:solidFill>
                <a:latin typeface="Segoe UI"/>
              </a:defRPr>
            </a:pPr>
            <a:r>
              <a:t>•  100% Private &amp; Fast</a:t>
            </a:r>
          </a:p>
          <a:p>
            <a:pPr>
              <a:spcBef>
                <a:spcPts val="200"/>
              </a:spcBef>
              <a:defRPr sz="1250">
                <a:solidFill>
                  <a:srgbClr val="334155"/>
                </a:solidFill>
                <a:latin typeface="Segoe UI"/>
              </a:defRPr>
            </a:pPr>
            <a:r>
              <a:t>    Local 21-joint keypoints with ultra-low 4.2ms latency.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1234440"/>
            <a:ext cx="5212080" cy="480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92608"/>
          <a:lstStyle/>
          <a:p>
            <a:pPr algn="ctr">
              <a:defRPr sz="1350" b="1">
                <a:solidFill>
                  <a:srgbClr val="D97706"/>
                </a:solidFill>
                <a:latin typeface="Segoe UI"/>
              </a:defRPr>
            </a:pPr>
            <a:r>
              <a:t>CORE SYSTEM HIGHLIGHTS</a:t>
            </a:r>
          </a:p>
          <a:p>
            <a:pPr>
              <a:spcBef>
                <a:spcPts val="1400"/>
              </a:spcBef>
              <a:defRPr sz="1500" b="1">
                <a:solidFill>
                  <a:srgbClr val="0A2540"/>
                </a:solidFill>
                <a:latin typeface="Segoe UI"/>
              </a:defRPr>
            </a:pPr>
            <a:r>
              <a:t>✔  AI-Powered Assistive Platform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    Translates Indian Sign Language into instant text &amp; natural speech.</a:t>
            </a:r>
          </a:p>
          <a:p>
            <a:pPr>
              <a:spcBef>
                <a:spcPts val="1400"/>
              </a:spcBef>
              <a:defRPr sz="1500" b="1">
                <a:solidFill>
                  <a:srgbClr val="0A2540"/>
                </a:solidFill>
                <a:latin typeface="Segoe UI"/>
              </a:defRPr>
            </a:pPr>
            <a:r>
              <a:t>✔  Ubiquitous Camera Access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    Operates on standard webcams without expensive sensory gloves.</a:t>
            </a:r>
          </a:p>
          <a:p>
            <a:pPr>
              <a:spcBef>
                <a:spcPts val="1400"/>
              </a:spcBef>
              <a:defRPr sz="1500" b="1">
                <a:solidFill>
                  <a:srgbClr val="0A2540"/>
                </a:solidFill>
                <a:latin typeface="Segoe UI"/>
              </a:defRPr>
            </a:pPr>
            <a:r>
              <a:t>✔  Instant Real-Time Voice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    Integrated speech engine verbalizes signs with immediate playback.</a:t>
            </a:r>
          </a:p>
          <a:p>
            <a:pPr>
              <a:spcBef>
                <a:spcPts val="1400"/>
              </a:spcBef>
              <a:defRPr sz="1500" b="1">
                <a:solidFill>
                  <a:srgbClr val="0A2540"/>
                </a:solidFill>
                <a:latin typeface="Segoe UI"/>
              </a:defRPr>
            </a:pPr>
            <a:r>
              <a:t>✔  Private On-Device Inference</a:t>
            </a:r>
          </a:p>
          <a:p>
            <a:pPr>
              <a:spcBef>
                <a:spcPts val="300"/>
              </a:spcBef>
              <a:defRPr sz="1300">
                <a:solidFill>
                  <a:srgbClr val="334155"/>
                </a:solidFill>
                <a:latin typeface="Segoe UI"/>
              </a:defRPr>
            </a:pPr>
            <a:r>
              <a:t>    Processes 21 3D hand keypoints locally ensuring complete data privacy.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63640" y="1234440"/>
            <a:ext cx="5166360" cy="4800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37959" y="1371600"/>
            <a:ext cx="45720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350" b="1">
                <a:solidFill>
                  <a:srgbClr val="0E7490"/>
                </a:solidFill>
                <a:latin typeface="Segoe UI"/>
              </a:defRPr>
            </a:pPr>
            <a:r>
              <a:t>END-TO-END PIPELINE ARCHITECTURE</a:t>
            </a:r>
          </a:p>
        </p:txBody>
      </p:sp>
      <p:pic>
        <p:nvPicPr>
          <p:cNvPr id="6" name="Picture 5" descr="isl_solution_architectu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1828800"/>
            <a:ext cx="4937760" cy="36868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37843" y="1113647"/>
            <a:ext cx="10113264" cy="5042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nd_users_clea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5" y="1186799"/>
            <a:ext cx="9966960" cy="4895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00684" y="1344443"/>
            <a:ext cx="10387584" cy="458059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ow_factors_clea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36" y="1417595"/>
            <a:ext cx="10241280" cy="44342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92327" y="1691639"/>
            <a:ext cx="1060704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ignova_block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647" y="2216701"/>
            <a:ext cx="10058400" cy="29732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1280160"/>
            <a:ext cx="333756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380" y="1467612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33472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0A2540"/>
                </a:solidFill>
                <a:latin typeface="Segoe UI"/>
              </a:defRPr>
            </a:pPr>
            <a:r>
              <a:t>React 18 &amp; Vite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0E7490"/>
                </a:solidFill>
                <a:latin typeface="Segoe UI"/>
              </a:defRPr>
            </a:pPr>
            <a:r>
              <a:t>Frontend User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280160"/>
            <a:ext cx="333756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diapi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836" y="1467612"/>
            <a:ext cx="1097280" cy="1097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62856" y="2633472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0A2540"/>
                </a:solidFill>
                <a:latin typeface="Segoe UI"/>
              </a:defRPr>
            </a:pPr>
            <a:r>
              <a:t>Google MediaPipe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0E7490"/>
                </a:solidFill>
                <a:latin typeface="Segoe UI"/>
              </a:defRPr>
            </a:pPr>
            <a:r>
              <a:t>Hand Landmark Tracking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74152" y="1280160"/>
            <a:ext cx="333756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astap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4292" y="1467612"/>
            <a:ext cx="1097280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11312" y="2633472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0A2540"/>
                </a:solidFill>
                <a:latin typeface="Segoe UI"/>
              </a:defRPr>
            </a:pPr>
            <a:r>
              <a:t>FastAPI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0E7490"/>
                </a:solidFill>
                <a:latin typeface="Segoe UI"/>
              </a:defRPr>
            </a:pPr>
            <a:r>
              <a:t>Async REST Microservice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94760"/>
            <a:ext cx="333756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yth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7380" y="3982212"/>
            <a:ext cx="1097280" cy="1097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4400" y="5148072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0A2540"/>
                </a:solidFill>
                <a:latin typeface="Segoe UI"/>
              </a:defRPr>
            </a:pPr>
            <a:r>
              <a:t>Python 3.10+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0E7490"/>
                </a:solidFill>
                <a:latin typeface="Segoe UI"/>
              </a:defRPr>
            </a:pPr>
            <a:r>
              <a:t>Core ML Intelligence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5696" y="3794760"/>
            <a:ext cx="333756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cikitlear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7820" y="4165091"/>
            <a:ext cx="1353312" cy="7315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62856" y="5148072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0A2540"/>
                </a:solidFill>
                <a:latin typeface="Segoe UI"/>
              </a:defRPr>
            </a:pPr>
            <a:r>
              <a:t>Scikit-Learn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0E7490"/>
                </a:solidFill>
                <a:latin typeface="Segoe UI"/>
              </a:defRPr>
            </a:pPr>
            <a:r>
              <a:t>Gesture Classifier 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3794760"/>
            <a:ext cx="333756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webspee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4292" y="3982212"/>
            <a:ext cx="1097280" cy="10972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11312" y="5148072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0A2540"/>
                </a:solidFill>
                <a:latin typeface="Segoe UI"/>
              </a:defRPr>
            </a:pPr>
            <a:r>
              <a:t>Web Speech API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0E7490"/>
                </a:solidFill>
                <a:latin typeface="Segoe UI"/>
              </a:defRPr>
            </a:pPr>
            <a:r>
              <a:t>Real-Time Voice Audio TTS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12367" y="1051560"/>
            <a:ext cx="9966960" cy="4855606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ive_user_test_h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087" y="1097280"/>
            <a:ext cx="9875520" cy="476416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371600" y="5907024"/>
            <a:ext cx="9448495" cy="3474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0A2540"/>
                </a:solidFill>
                <a:latin typeface="Segoe UI"/>
              </a:rPr>
              <a:t>Live App: </a:t>
            </a:r>
            <a:r>
              <a:rPr sz="1100" b="1" u="sng">
                <a:solidFill>
                  <a:srgbClr val="0E7490"/>
                </a:solidFill>
                <a:latin typeface="Segoe UI"/>
                <a:hlinkClick r:id="rId4"/>
              </a:rPr>
              <a:t>https://signova-ai-ashy.vercel.app</a:t>
            </a:r>
            <a:r>
              <a:rPr sz="1100" b="1">
                <a:solidFill>
                  <a:srgbClr val="0A2540"/>
                </a:solidFill>
                <a:latin typeface="Segoe UI"/>
              </a:rPr>
              <a:t>   |   GitHub: </a:t>
            </a:r>
            <a:r>
              <a:rPr sz="1100" b="1" u="sng">
                <a:solidFill>
                  <a:srgbClr val="0E7490"/>
                </a:solidFill>
                <a:latin typeface="Segoe UI"/>
                <a:hlinkClick r:id="rId5"/>
              </a:rPr>
              <a:t>https://github.com/dhineshkumar-devx/signova-ai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1234440"/>
            <a:ext cx="10634472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82880"/>
          <a:lstStyle/>
          <a:p>
            <a:pPr algn="ctr">
              <a:defRPr sz="1500" b="1">
                <a:solidFill>
                  <a:srgbClr val="0A2540"/>
                </a:solidFill>
                <a:latin typeface="Segoe UI"/>
              </a:defRPr>
            </a:pPr>
            <a:r>
              <a:t>✔   Bridges Critical Communication Divide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      Empowers India's 63M+ deaf individuals with an accessible, barrier-free tool for daily conversations.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468880"/>
            <a:ext cx="10634472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82880"/>
          <a:lstStyle/>
          <a:p>
            <a:pPr algn="ctr">
              <a:defRPr sz="1500" b="1">
                <a:solidFill>
                  <a:srgbClr val="0A2540"/>
                </a:solidFill>
                <a:latin typeface="Segoe UI"/>
              </a:defRPr>
            </a:pPr>
            <a:r>
              <a:t>✔   Zero Additional Hardware Cost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      Replaces $500+ expensive sensor gloves with ubiquitous standard webcams, democratizing assistive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703320"/>
            <a:ext cx="10634472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82880"/>
          <a:lstStyle/>
          <a:p>
            <a:pPr algn="ctr">
              <a:defRPr sz="1500" b="1">
                <a:solidFill>
                  <a:srgbClr val="0A2540"/>
                </a:solidFill>
                <a:latin typeface="Segoe UI"/>
              </a:defRPr>
            </a:pPr>
            <a:r>
              <a:t>✔   Exceptional Speed &amp; Accuracy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      Achieves 95.07% recognition accuracy with an ultra-responsive 4.2ms latency and immediate voice synthesis.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937760"/>
            <a:ext cx="10634472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82880"/>
          <a:lstStyle/>
          <a:p>
            <a:pPr algn="ctr">
              <a:defRPr sz="1500" b="1">
                <a:solidFill>
                  <a:srgbClr val="0A2540"/>
                </a:solidFill>
                <a:latin typeface="Segoe UI"/>
              </a:defRPr>
            </a:pPr>
            <a:r>
              <a:t>✔   Modular &amp; Production Ready</a:t>
            </a:r>
          </a:p>
          <a:p>
            <a:pPr>
              <a:spcBef>
                <a:spcPts val="3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      Engineered with modern React and FastAPI microservices, prepared for immediate deployment in schools, hospitals, and civic centers.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1234440"/>
            <a:ext cx="516636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19456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POCKET ACCESSIBILITY</a:t>
            </a:r>
          </a:p>
          <a:p>
            <a:pPr>
              <a:spcBef>
                <a:spcPts val="400"/>
              </a:spcBef>
              <a:defRPr sz="1800" b="1">
                <a:solidFill>
                  <a:srgbClr val="0A2540"/>
                </a:solidFill>
                <a:latin typeface="Segoe UI"/>
              </a:defRPr>
            </a:pPr>
            <a:r>
              <a:t>Mobile &amp; Edge AI Apps</a:t>
            </a:r>
          </a:p>
          <a:p>
            <a:pPr>
              <a:spcBef>
                <a:spcPts val="1000"/>
              </a:spcBef>
              <a:defRPr sz="1350" b="1">
                <a:solidFill>
                  <a:srgbClr val="0A2540"/>
                </a:solidFill>
                <a:latin typeface="Segoe UI"/>
              </a:defRPr>
            </a:pPr>
            <a:r>
              <a:t>•  Native Android &amp; iOS Apps</a:t>
            </a:r>
          </a:p>
          <a:p>
            <a:pPr>
              <a:spcBef>
                <a:spcPts val="2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    Lightweight on-device smartphone camera translation.</a:t>
            </a:r>
          </a:p>
          <a:p>
            <a:pPr>
              <a:spcBef>
                <a:spcPts val="1000"/>
              </a:spcBef>
              <a:defRPr sz="1350" b="1">
                <a:solidFill>
                  <a:srgbClr val="0A2540"/>
                </a:solidFill>
                <a:latin typeface="Segoe UI"/>
              </a:defRPr>
            </a:pPr>
            <a:r>
              <a:t>•  100% Offline AI Engine</a:t>
            </a:r>
          </a:p>
          <a:p>
            <a:pPr>
              <a:spcBef>
                <a:spcPts val="2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    Smooth 60 FPS live video tracking without internet access.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234440"/>
            <a:ext cx="516636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19456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EXPANDED VOCABULARY</a:t>
            </a:r>
          </a:p>
          <a:p>
            <a:pPr>
              <a:spcBef>
                <a:spcPts val="400"/>
              </a:spcBef>
              <a:defRPr sz="1800" b="1">
                <a:solidFill>
                  <a:srgbClr val="0A2540"/>
                </a:solidFill>
                <a:latin typeface="Segoe UI"/>
              </a:defRPr>
            </a:pPr>
            <a:r>
              <a:t>Regional Indian Dialects</a:t>
            </a:r>
          </a:p>
          <a:p>
            <a:pPr>
              <a:spcBef>
                <a:spcPts val="1000"/>
              </a:spcBef>
              <a:defRPr sz="1350" b="1">
                <a:solidFill>
                  <a:srgbClr val="0A2540"/>
                </a:solidFill>
                <a:latin typeface="Segoe UI"/>
              </a:defRPr>
            </a:pPr>
            <a:r>
              <a:t>•  500+ Extended Word Signs</a:t>
            </a:r>
          </a:p>
          <a:p>
            <a:pPr>
              <a:spcBef>
                <a:spcPts val="2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    Covers multi-state Northern &amp; Southern ISL dialect variations.</a:t>
            </a:r>
          </a:p>
          <a:p>
            <a:pPr>
              <a:spcBef>
                <a:spcPts val="1000"/>
              </a:spcBef>
              <a:defRPr sz="1350" b="1">
                <a:solidFill>
                  <a:srgbClr val="0A2540"/>
                </a:solidFill>
                <a:latin typeface="Segoe UI"/>
              </a:defRPr>
            </a:pPr>
            <a:r>
              <a:t>•  Community Studio Portal</a:t>
            </a:r>
          </a:p>
          <a:p>
            <a:pPr>
              <a:spcBef>
                <a:spcPts val="2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    Crowdsourced open platform for nationwide gesture expansion.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749040"/>
            <a:ext cx="516636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19456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NEXT-GEN WEARABLES</a:t>
            </a:r>
          </a:p>
          <a:p>
            <a:pPr>
              <a:spcBef>
                <a:spcPts val="400"/>
              </a:spcBef>
              <a:defRPr sz="1800" b="1">
                <a:solidFill>
                  <a:srgbClr val="0A2540"/>
                </a:solidFill>
                <a:latin typeface="Segoe UI"/>
              </a:defRPr>
            </a:pPr>
            <a:r>
              <a:t>AR Smart Glasses</a:t>
            </a:r>
          </a:p>
          <a:p>
            <a:pPr>
              <a:spcBef>
                <a:spcPts val="1000"/>
              </a:spcBef>
              <a:defRPr sz="1350" b="1">
                <a:solidFill>
                  <a:srgbClr val="0A2540"/>
                </a:solidFill>
                <a:latin typeface="Segoe UI"/>
              </a:defRPr>
            </a:pPr>
            <a:r>
              <a:t>•  Heads-Up Live Subtitles</a:t>
            </a:r>
          </a:p>
          <a:p>
            <a:pPr>
              <a:spcBef>
                <a:spcPts val="2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    Displays speech subtitles directly in wearer's field of vision.</a:t>
            </a:r>
          </a:p>
          <a:p>
            <a:pPr>
              <a:spcBef>
                <a:spcPts val="1000"/>
              </a:spcBef>
              <a:defRPr sz="1350" b="1">
                <a:solidFill>
                  <a:srgbClr val="0A2540"/>
                </a:solidFill>
                <a:latin typeface="Segoe UI"/>
              </a:defRPr>
            </a:pPr>
            <a:r>
              <a:t>•  Hands-Free Natural Chat</a:t>
            </a:r>
          </a:p>
          <a:p>
            <a:pPr>
              <a:spcBef>
                <a:spcPts val="2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    Enables natural, continuous eye contact during conversation.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749040"/>
            <a:ext cx="516636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92608" tIns="219456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CIVIC INCLUSIVITY</a:t>
            </a:r>
          </a:p>
          <a:p>
            <a:pPr>
              <a:spcBef>
                <a:spcPts val="400"/>
              </a:spcBef>
              <a:defRPr sz="1800" b="1">
                <a:solidFill>
                  <a:srgbClr val="0A2540"/>
                </a:solidFill>
                <a:latin typeface="Segoe UI"/>
              </a:defRPr>
            </a:pPr>
            <a:r>
              <a:t>Public Service Kiosks</a:t>
            </a:r>
          </a:p>
          <a:p>
            <a:pPr>
              <a:spcBef>
                <a:spcPts val="1000"/>
              </a:spcBef>
              <a:defRPr sz="1350" b="1">
                <a:solidFill>
                  <a:srgbClr val="0A2540"/>
                </a:solidFill>
                <a:latin typeface="Segoe UI"/>
              </a:defRPr>
            </a:pPr>
            <a:r>
              <a:t>•  Transit &amp; Railway Desks</a:t>
            </a:r>
          </a:p>
          <a:p>
            <a:pPr>
              <a:spcBef>
                <a:spcPts val="2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    Instant automated barrier-free ticket and counter support.</a:t>
            </a:r>
          </a:p>
          <a:p>
            <a:pPr>
              <a:spcBef>
                <a:spcPts val="1000"/>
              </a:spcBef>
              <a:defRPr sz="1350" b="1">
                <a:solidFill>
                  <a:srgbClr val="0A2540"/>
                </a:solidFill>
                <a:latin typeface="Segoe UI"/>
              </a:defRPr>
            </a:pPr>
            <a:r>
              <a:t>•  Hospital ER Triage</a:t>
            </a:r>
          </a:p>
          <a:p>
            <a:pPr>
              <a:spcBef>
                <a:spcPts val="2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    Rapid doctor-to-patient emergency talk without interpreter delays.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4114800"/>
            <a:ext cx="85313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100" b="1" i="1">
                <a:solidFill>
                  <a:srgbClr val="0A2540"/>
                </a:solidFill>
                <a:latin typeface="Segoe UI"/>
              </a:defRPr>
            </a:pPr>
            <a:r>
              <a:t>“Empowering Every Voice, Translating Every Sign.”</a:t>
            </a:r>
          </a:p>
          <a:p>
            <a:pPr algn="ctr">
              <a:spcBef>
                <a:spcPts val="800"/>
              </a:spcBef>
              <a:defRPr sz="1550" b="1">
                <a:solidFill>
                  <a:srgbClr val="D97706"/>
                </a:solidFill>
                <a:latin typeface="Segoe UI"/>
              </a:defRPr>
            </a:pPr>
            <a:r>
              <a:t>Questions &amp; Interactive Demonstration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